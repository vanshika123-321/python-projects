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9" r:id="rId3"/>
    <p:sldId id="258" r:id="rId4"/>
    <p:sldId id="260" r:id="rId5"/>
    <p:sldId id="264" r:id="rId6"/>
    <p:sldId id="267" r:id="rId7"/>
    <p:sldId id="268" r:id="rId8"/>
    <p:sldId id="259" r:id="rId9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LoddAnK6UfSPsHo2SNdpkODNm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DEDB5F-676D-4150-8AB7-1656828A7EF0}" v="2" dt="2026-08-16T15:01:35.691"/>
    <p1510:client id="{9A5DED7B-6402-484F-9C19-CA6ACEE4D72D}" v="53" dt="2026-08-16T14:47:51.834"/>
    <p1510:client id="{9B1CC561-1AE5-48D6-8402-B008C3712D20}" v="7" dt="2026-08-17T06:44:19.386"/>
    <p1510:client id="{ACFA823A-86B3-46B5-882B-846961FB0ABB}" v="9" dt="2026-08-16T16:42:04.387"/>
    <p1510:client id="{C0AF0318-DA2D-4DCC-AEAF-0784163880A7}" v="520" dt="2026-08-16T18:26:33.793"/>
    <p1510:client id="{DDCE7404-0B6C-4ECB-B225-EF740299E4D4}" v="203" dt="2026-08-16T15:29:07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customschemas.google.com/relationships/presentationmetadata" Target="meta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E0CFE4-9DD4-40D1-BB6A-BE90A77A84CF}" type="doc">
      <dgm:prSet loTypeId="urn:microsoft.com/office/officeart/2005/8/layout/default" loCatId="list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64746113-0912-4200-B158-3D31E18E8D99}">
      <dgm:prSet phldrT="[Text]" phldr="0"/>
      <dgm:spPr/>
      <dgm:t>
        <a:bodyPr/>
        <a:lstStyle/>
        <a:p>
          <a:pPr algn="l" rtl="0"/>
          <a:r>
            <a:rPr lang="en-US" sz="2000" b="1">
              <a:latin typeface="Arial"/>
            </a:rPr>
            <a:t>1)Start </a:t>
          </a:r>
          <a:r>
            <a:rPr lang="en-US" sz="2000">
              <a:latin typeface="Arial"/>
            </a:rPr>
            <a:t>– Initialize CSV file. </a:t>
          </a:r>
        </a:p>
      </dgm:t>
    </dgm:pt>
    <dgm:pt modelId="{83C1A6CF-187A-45C4-99F4-B3A9F33267DA}" type="parTrans" cxnId="{CDAB3E8A-C2D2-4A74-AD7D-96D7F58DF03A}">
      <dgm:prSet/>
      <dgm:spPr/>
    </dgm:pt>
    <dgm:pt modelId="{766A8965-16C0-46DD-AF5E-B67B6E4BEB80}" type="sibTrans" cxnId="{CDAB3E8A-C2D2-4A74-AD7D-96D7F58DF03A}">
      <dgm:prSet/>
      <dgm:spPr/>
    </dgm:pt>
    <dgm:pt modelId="{F0305475-7DF9-4B67-A2D0-4CF223D69B4B}">
      <dgm:prSet phldrT="[Text]" phldr="0"/>
      <dgm:spPr/>
      <dgm:t>
        <a:bodyPr/>
        <a:lstStyle/>
        <a:p>
          <a:pPr algn="l" rtl="0"/>
          <a:r>
            <a:rPr lang="en-US" sz="2000" b="1">
              <a:latin typeface="Arial"/>
            </a:rPr>
            <a:t>2) Menu</a:t>
          </a:r>
          <a:r>
            <a:rPr lang="en-US" sz="2000">
              <a:latin typeface="Arial"/>
            </a:rPr>
            <a:t> – Add, View, Reports, Delete, Exit. </a:t>
          </a:r>
        </a:p>
      </dgm:t>
    </dgm:pt>
    <dgm:pt modelId="{1559F17D-053E-416C-8473-142F337048F2}" type="parTrans" cxnId="{0812EAE3-7518-4BC8-B9FC-7D279CA92C32}">
      <dgm:prSet/>
      <dgm:spPr/>
    </dgm:pt>
    <dgm:pt modelId="{1B6C6233-B439-4520-BE88-0D5B5A20ED91}" type="sibTrans" cxnId="{0812EAE3-7518-4BC8-B9FC-7D279CA92C32}">
      <dgm:prSet/>
      <dgm:spPr/>
    </dgm:pt>
    <dgm:pt modelId="{4220DD4E-D570-45AB-A35A-4D6B9AC1002A}">
      <dgm:prSet phldrT="[Text]" phldr="0"/>
      <dgm:spPr/>
      <dgm:t>
        <a:bodyPr/>
        <a:lstStyle/>
        <a:p>
          <a:pPr algn="l" rtl="0"/>
          <a:r>
            <a:rPr lang="en-US" sz="2000" b="1">
              <a:latin typeface="Arial"/>
            </a:rPr>
            <a:t>3) Add Expense</a:t>
          </a:r>
          <a:r>
            <a:rPr lang="en-US" sz="2000">
              <a:latin typeface="Arial"/>
            </a:rPr>
            <a:t> –  Enter details →   Save to CSV. </a:t>
          </a:r>
        </a:p>
      </dgm:t>
    </dgm:pt>
    <dgm:pt modelId="{140FCA05-C304-441C-8B06-1D3E526BF315}" type="parTrans" cxnId="{EA030A85-F3BF-4DB6-BE57-10BB681A5F7E}">
      <dgm:prSet/>
      <dgm:spPr/>
    </dgm:pt>
    <dgm:pt modelId="{02432977-BC92-40C8-BB9A-063430A10EE6}" type="sibTrans" cxnId="{EA030A85-F3BF-4DB6-BE57-10BB681A5F7E}">
      <dgm:prSet/>
      <dgm:spPr/>
    </dgm:pt>
    <dgm:pt modelId="{550FE6E6-A93A-4D21-8840-7CD4CD6CA727}">
      <dgm:prSet phldrT="[Text]" phldr="0"/>
      <dgm:spPr/>
      <dgm:t>
        <a:bodyPr/>
        <a:lstStyle/>
        <a:p>
          <a:pPr algn="l" rtl="0"/>
          <a:r>
            <a:rPr lang="en-US" sz="2000" b="1">
              <a:latin typeface="Arial"/>
            </a:rPr>
            <a:t>4) View Expenses</a:t>
          </a:r>
          <a:r>
            <a:rPr lang="en-US" sz="2000">
              <a:latin typeface="Arial"/>
            </a:rPr>
            <a:t> – Read and display CSV using Pandas. </a:t>
          </a:r>
        </a:p>
      </dgm:t>
    </dgm:pt>
    <dgm:pt modelId="{F6ADF0D6-856B-4240-8452-C7DDF8E472A4}" type="parTrans" cxnId="{87E6FA8E-6153-42D5-A6FC-E12279BC178F}">
      <dgm:prSet/>
      <dgm:spPr/>
    </dgm:pt>
    <dgm:pt modelId="{0F5C027E-3E5F-4A3B-A20C-0F5706FEEE71}" type="sibTrans" cxnId="{87E6FA8E-6153-42D5-A6FC-E12279BC178F}">
      <dgm:prSet/>
      <dgm:spPr/>
    </dgm:pt>
    <dgm:pt modelId="{403FB01C-7C2D-46D0-9FC2-6604F2489EC5}">
      <dgm:prSet phldrT="[Text]" phldr="0"/>
      <dgm:spPr/>
      <dgm:t>
        <a:bodyPr/>
        <a:lstStyle/>
        <a:p>
          <a:pPr algn="l" rtl="0"/>
          <a:r>
            <a:rPr lang="en-US" sz="2000" b="1">
              <a:latin typeface="Arial"/>
            </a:rPr>
            <a:t>5) Monthly Report</a:t>
          </a:r>
          <a:r>
            <a:rPr lang="en-US" sz="2000">
              <a:latin typeface="Arial"/>
            </a:rPr>
            <a:t> – Filter data → Calculate total →Generate charts. </a:t>
          </a:r>
        </a:p>
      </dgm:t>
    </dgm:pt>
    <dgm:pt modelId="{E5C849BD-7D97-466A-9F9F-CE4B0E90AD89}" type="parTrans" cxnId="{5C3589B5-1F43-4FD8-A2F5-E642F67F7C2C}">
      <dgm:prSet/>
      <dgm:spPr/>
    </dgm:pt>
    <dgm:pt modelId="{86D558BC-F329-43D4-91A0-39723D0068B3}" type="sibTrans" cxnId="{5C3589B5-1F43-4FD8-A2F5-E642F67F7C2C}">
      <dgm:prSet/>
      <dgm:spPr/>
    </dgm:pt>
    <dgm:pt modelId="{88C5AE47-3A7F-4B52-8A16-D1E2E3003238}">
      <dgm:prSet phldrT="[Text]" phldr="0"/>
      <dgm:spPr/>
      <dgm:t>
        <a:bodyPr/>
        <a:lstStyle/>
        <a:p>
          <a:pPr algn="l" rtl="0"/>
          <a:r>
            <a:rPr lang="en-US" sz="2000" b="1" dirty="0">
              <a:latin typeface="Arial"/>
            </a:rPr>
            <a:t>6) Category Report </a:t>
          </a:r>
          <a:r>
            <a:rPr lang="en-US" sz="2000" dirty="0">
              <a:latin typeface="Arial"/>
            </a:rPr>
            <a:t>– Group by category → Calculate spending → Generate chart. </a:t>
          </a:r>
        </a:p>
      </dgm:t>
    </dgm:pt>
    <dgm:pt modelId="{551A15BB-BA98-4E00-9016-C9DD1FFC78DB}" type="parTrans" cxnId="{5AF2F55C-DC58-4161-ADCA-2B5EC6C2D39F}">
      <dgm:prSet/>
      <dgm:spPr/>
    </dgm:pt>
    <dgm:pt modelId="{C7687E6C-7165-47F5-8531-E303C164E97A}" type="sibTrans" cxnId="{5AF2F55C-DC58-4161-ADCA-2B5EC6C2D39F}">
      <dgm:prSet/>
      <dgm:spPr/>
    </dgm:pt>
    <dgm:pt modelId="{42166EAF-82CE-4335-A912-CAD85C760059}">
      <dgm:prSet phldrT="[Text]" phldr="0"/>
      <dgm:spPr/>
      <dgm:t>
        <a:bodyPr/>
        <a:lstStyle/>
        <a:p>
          <a:pPr algn="l" rtl="0"/>
          <a:r>
            <a:rPr lang="en-US" sz="2000" b="1">
              <a:latin typeface="Arial"/>
            </a:rPr>
            <a:t>7) Delete Expense </a:t>
          </a:r>
          <a:r>
            <a:rPr lang="en-US" sz="2000">
              <a:latin typeface="Arial"/>
            </a:rPr>
            <a:t>– Select index → Delete → Update CSV. </a:t>
          </a:r>
        </a:p>
      </dgm:t>
    </dgm:pt>
    <dgm:pt modelId="{F8770B32-96EC-4A1C-98D1-206C78EA9D0D}" type="parTrans" cxnId="{16C229E5-949C-41DB-BC82-36CACA0EA84B}">
      <dgm:prSet/>
      <dgm:spPr/>
    </dgm:pt>
    <dgm:pt modelId="{779136C7-DA61-4EC6-9954-8357CD83F9C9}" type="sibTrans" cxnId="{16C229E5-949C-41DB-BC82-36CACA0EA84B}">
      <dgm:prSet/>
      <dgm:spPr/>
    </dgm:pt>
    <dgm:pt modelId="{B1A2C107-15FB-404D-98A2-3FED6F99DC5A}">
      <dgm:prSet phldrT="[Text]" phldr="0"/>
      <dgm:spPr/>
      <dgm:t>
        <a:bodyPr/>
        <a:lstStyle/>
        <a:p>
          <a:pPr algn="l" rtl="0"/>
          <a:r>
            <a:rPr lang="en-US" sz="2000" b="1">
              <a:latin typeface="Arial"/>
            </a:rPr>
            <a:t>8) Exit</a:t>
          </a:r>
          <a:r>
            <a:rPr lang="en-US" sz="2000">
              <a:latin typeface="Arial"/>
            </a:rPr>
            <a:t> – Terminate program.</a:t>
          </a:r>
        </a:p>
      </dgm:t>
    </dgm:pt>
    <dgm:pt modelId="{04A8C244-3706-405A-8939-4504E54B1CDF}" type="parTrans" cxnId="{B1C1A56E-3F03-4D85-9F9A-483E3D99AEC6}">
      <dgm:prSet/>
      <dgm:spPr/>
    </dgm:pt>
    <dgm:pt modelId="{20F00B10-D25C-48A3-B77F-B1C8275D5372}" type="sibTrans" cxnId="{B1C1A56E-3F03-4D85-9F9A-483E3D99AEC6}">
      <dgm:prSet/>
      <dgm:spPr/>
    </dgm:pt>
    <dgm:pt modelId="{53897D74-128C-49EC-B8E4-D303A2480256}" type="pres">
      <dgm:prSet presAssocID="{D8E0CFE4-9DD4-40D1-BB6A-BE90A77A84CF}" presName="diagram" presStyleCnt="0">
        <dgm:presLayoutVars>
          <dgm:dir/>
          <dgm:resizeHandles val="exact"/>
        </dgm:presLayoutVars>
      </dgm:prSet>
      <dgm:spPr/>
    </dgm:pt>
    <dgm:pt modelId="{BC72004B-1CFB-4943-B987-218163EE9AAA}" type="pres">
      <dgm:prSet presAssocID="{64746113-0912-4200-B158-3D31E18E8D99}" presName="node" presStyleLbl="node1" presStyleIdx="0" presStyleCnt="8">
        <dgm:presLayoutVars>
          <dgm:bulletEnabled val="1"/>
        </dgm:presLayoutVars>
      </dgm:prSet>
      <dgm:spPr/>
    </dgm:pt>
    <dgm:pt modelId="{D717B036-6750-40CB-ACEA-CB7992ACBAF3}" type="pres">
      <dgm:prSet presAssocID="{766A8965-16C0-46DD-AF5E-B67B6E4BEB80}" presName="sibTrans" presStyleCnt="0"/>
      <dgm:spPr/>
    </dgm:pt>
    <dgm:pt modelId="{DB9E31BD-278E-403B-9CEF-206BB2BE94F9}" type="pres">
      <dgm:prSet presAssocID="{F0305475-7DF9-4B67-A2D0-4CF223D69B4B}" presName="node" presStyleLbl="node1" presStyleIdx="1" presStyleCnt="8">
        <dgm:presLayoutVars>
          <dgm:bulletEnabled val="1"/>
        </dgm:presLayoutVars>
      </dgm:prSet>
      <dgm:spPr/>
    </dgm:pt>
    <dgm:pt modelId="{B8DE8EE9-5D5D-47D9-9BEE-FC49C802ABC6}" type="pres">
      <dgm:prSet presAssocID="{1B6C6233-B439-4520-BE88-0D5B5A20ED91}" presName="sibTrans" presStyleCnt="0"/>
      <dgm:spPr/>
    </dgm:pt>
    <dgm:pt modelId="{02935428-4F2C-48E9-A199-4601C186DF2E}" type="pres">
      <dgm:prSet presAssocID="{4220DD4E-D570-45AB-A35A-4D6B9AC1002A}" presName="node" presStyleLbl="node1" presStyleIdx="2" presStyleCnt="8">
        <dgm:presLayoutVars>
          <dgm:bulletEnabled val="1"/>
        </dgm:presLayoutVars>
      </dgm:prSet>
      <dgm:spPr/>
    </dgm:pt>
    <dgm:pt modelId="{062C28AC-F1CE-4E9D-9E4D-129849AD5125}" type="pres">
      <dgm:prSet presAssocID="{02432977-BC92-40C8-BB9A-063430A10EE6}" presName="sibTrans" presStyleCnt="0"/>
      <dgm:spPr/>
    </dgm:pt>
    <dgm:pt modelId="{BBAD108A-793B-452F-BA22-5E0A0E19355D}" type="pres">
      <dgm:prSet presAssocID="{550FE6E6-A93A-4D21-8840-7CD4CD6CA727}" presName="node" presStyleLbl="node1" presStyleIdx="3" presStyleCnt="8">
        <dgm:presLayoutVars>
          <dgm:bulletEnabled val="1"/>
        </dgm:presLayoutVars>
      </dgm:prSet>
      <dgm:spPr/>
    </dgm:pt>
    <dgm:pt modelId="{20E8B14D-4EE3-4058-A84A-4AC50D7CA1A5}" type="pres">
      <dgm:prSet presAssocID="{0F5C027E-3E5F-4A3B-A20C-0F5706FEEE71}" presName="sibTrans" presStyleCnt="0"/>
      <dgm:spPr/>
    </dgm:pt>
    <dgm:pt modelId="{52078E57-8363-4A6E-9239-4951C36549FD}" type="pres">
      <dgm:prSet presAssocID="{403FB01C-7C2D-46D0-9FC2-6604F2489EC5}" presName="node" presStyleLbl="node1" presStyleIdx="4" presStyleCnt="8">
        <dgm:presLayoutVars>
          <dgm:bulletEnabled val="1"/>
        </dgm:presLayoutVars>
      </dgm:prSet>
      <dgm:spPr/>
    </dgm:pt>
    <dgm:pt modelId="{822E557B-4139-4D1B-9276-C66E5D6084D2}" type="pres">
      <dgm:prSet presAssocID="{86D558BC-F329-43D4-91A0-39723D0068B3}" presName="sibTrans" presStyleCnt="0"/>
      <dgm:spPr/>
    </dgm:pt>
    <dgm:pt modelId="{64068119-BF7D-4930-AE4C-2723089803BA}" type="pres">
      <dgm:prSet presAssocID="{88C5AE47-3A7F-4B52-8A16-D1E2E3003238}" presName="node" presStyleLbl="node1" presStyleIdx="5" presStyleCnt="8">
        <dgm:presLayoutVars>
          <dgm:bulletEnabled val="1"/>
        </dgm:presLayoutVars>
      </dgm:prSet>
      <dgm:spPr/>
    </dgm:pt>
    <dgm:pt modelId="{4A6CCD32-2909-42FD-95DC-A8814C284A48}" type="pres">
      <dgm:prSet presAssocID="{C7687E6C-7165-47F5-8531-E303C164E97A}" presName="sibTrans" presStyleCnt="0"/>
      <dgm:spPr/>
    </dgm:pt>
    <dgm:pt modelId="{EE461843-69FA-45E1-A8DC-3B7510EA3552}" type="pres">
      <dgm:prSet presAssocID="{42166EAF-82CE-4335-A912-CAD85C760059}" presName="node" presStyleLbl="node1" presStyleIdx="6" presStyleCnt="8">
        <dgm:presLayoutVars>
          <dgm:bulletEnabled val="1"/>
        </dgm:presLayoutVars>
      </dgm:prSet>
      <dgm:spPr/>
    </dgm:pt>
    <dgm:pt modelId="{8A3D3F39-A97E-41E5-9FFA-EBE984789EBE}" type="pres">
      <dgm:prSet presAssocID="{779136C7-DA61-4EC6-9954-8357CD83F9C9}" presName="sibTrans" presStyleCnt="0"/>
      <dgm:spPr/>
    </dgm:pt>
    <dgm:pt modelId="{CC9B597F-1591-4691-8EB4-F95B09A71693}" type="pres">
      <dgm:prSet presAssocID="{B1A2C107-15FB-404D-98A2-3FED6F99DC5A}" presName="node" presStyleLbl="node1" presStyleIdx="7" presStyleCnt="8">
        <dgm:presLayoutVars>
          <dgm:bulletEnabled val="1"/>
        </dgm:presLayoutVars>
      </dgm:prSet>
      <dgm:spPr/>
    </dgm:pt>
  </dgm:ptLst>
  <dgm:cxnLst>
    <dgm:cxn modelId="{E37F381E-C900-484F-8131-446A9A97A131}" type="presOf" srcId="{88C5AE47-3A7F-4B52-8A16-D1E2E3003238}" destId="{64068119-BF7D-4930-AE4C-2723089803BA}" srcOrd="0" destOrd="0" presId="urn:microsoft.com/office/officeart/2005/8/layout/default"/>
    <dgm:cxn modelId="{80E64820-8405-4367-8618-708A5FA36DD4}" type="presOf" srcId="{42166EAF-82CE-4335-A912-CAD85C760059}" destId="{EE461843-69FA-45E1-A8DC-3B7510EA3552}" srcOrd="0" destOrd="0" presId="urn:microsoft.com/office/officeart/2005/8/layout/default"/>
    <dgm:cxn modelId="{962D273B-B17D-4618-AE39-CCA75DCF49EA}" type="presOf" srcId="{F0305475-7DF9-4B67-A2D0-4CF223D69B4B}" destId="{DB9E31BD-278E-403B-9CEF-206BB2BE94F9}" srcOrd="0" destOrd="0" presId="urn:microsoft.com/office/officeart/2005/8/layout/default"/>
    <dgm:cxn modelId="{5AF2F55C-DC58-4161-ADCA-2B5EC6C2D39F}" srcId="{D8E0CFE4-9DD4-40D1-BB6A-BE90A77A84CF}" destId="{88C5AE47-3A7F-4B52-8A16-D1E2E3003238}" srcOrd="5" destOrd="0" parTransId="{551A15BB-BA98-4E00-9016-C9DD1FFC78DB}" sibTransId="{C7687E6C-7165-47F5-8531-E303C164E97A}"/>
    <dgm:cxn modelId="{B1C1A56E-3F03-4D85-9F9A-483E3D99AEC6}" srcId="{D8E0CFE4-9DD4-40D1-BB6A-BE90A77A84CF}" destId="{B1A2C107-15FB-404D-98A2-3FED6F99DC5A}" srcOrd="7" destOrd="0" parTransId="{04A8C244-3706-405A-8939-4504E54B1CDF}" sibTransId="{20F00B10-D25C-48A3-B77F-B1C8275D5372}"/>
    <dgm:cxn modelId="{EA030A85-F3BF-4DB6-BE57-10BB681A5F7E}" srcId="{D8E0CFE4-9DD4-40D1-BB6A-BE90A77A84CF}" destId="{4220DD4E-D570-45AB-A35A-4D6B9AC1002A}" srcOrd="2" destOrd="0" parTransId="{140FCA05-C304-441C-8B06-1D3E526BF315}" sibTransId="{02432977-BC92-40C8-BB9A-063430A10EE6}"/>
    <dgm:cxn modelId="{CDAB3E8A-C2D2-4A74-AD7D-96D7F58DF03A}" srcId="{D8E0CFE4-9DD4-40D1-BB6A-BE90A77A84CF}" destId="{64746113-0912-4200-B158-3D31E18E8D99}" srcOrd="0" destOrd="0" parTransId="{83C1A6CF-187A-45C4-99F4-B3A9F33267DA}" sibTransId="{766A8965-16C0-46DD-AF5E-B67B6E4BEB80}"/>
    <dgm:cxn modelId="{87E6FA8E-6153-42D5-A6FC-E12279BC178F}" srcId="{D8E0CFE4-9DD4-40D1-BB6A-BE90A77A84CF}" destId="{550FE6E6-A93A-4D21-8840-7CD4CD6CA727}" srcOrd="3" destOrd="0" parTransId="{F6ADF0D6-856B-4240-8452-C7DDF8E472A4}" sibTransId="{0F5C027E-3E5F-4A3B-A20C-0F5706FEEE71}"/>
    <dgm:cxn modelId="{6FC8078F-DAE8-491D-93DD-78C20C880385}" type="presOf" srcId="{D8E0CFE4-9DD4-40D1-BB6A-BE90A77A84CF}" destId="{53897D74-128C-49EC-B8E4-D303A2480256}" srcOrd="0" destOrd="0" presId="urn:microsoft.com/office/officeart/2005/8/layout/default"/>
    <dgm:cxn modelId="{E4864F9D-9305-4075-B17E-D6B7E852A663}" type="presOf" srcId="{550FE6E6-A93A-4D21-8840-7CD4CD6CA727}" destId="{BBAD108A-793B-452F-BA22-5E0A0E19355D}" srcOrd="0" destOrd="0" presId="urn:microsoft.com/office/officeart/2005/8/layout/default"/>
    <dgm:cxn modelId="{5C3589B5-1F43-4FD8-A2F5-E642F67F7C2C}" srcId="{D8E0CFE4-9DD4-40D1-BB6A-BE90A77A84CF}" destId="{403FB01C-7C2D-46D0-9FC2-6604F2489EC5}" srcOrd="4" destOrd="0" parTransId="{E5C849BD-7D97-466A-9F9F-CE4B0E90AD89}" sibTransId="{86D558BC-F329-43D4-91A0-39723D0068B3}"/>
    <dgm:cxn modelId="{0812EAE3-7518-4BC8-B9FC-7D279CA92C32}" srcId="{D8E0CFE4-9DD4-40D1-BB6A-BE90A77A84CF}" destId="{F0305475-7DF9-4B67-A2D0-4CF223D69B4B}" srcOrd="1" destOrd="0" parTransId="{1559F17D-053E-416C-8473-142F337048F2}" sibTransId="{1B6C6233-B439-4520-BE88-0D5B5A20ED91}"/>
    <dgm:cxn modelId="{16C229E5-949C-41DB-BC82-36CACA0EA84B}" srcId="{D8E0CFE4-9DD4-40D1-BB6A-BE90A77A84CF}" destId="{42166EAF-82CE-4335-A912-CAD85C760059}" srcOrd="6" destOrd="0" parTransId="{F8770B32-96EC-4A1C-98D1-206C78EA9D0D}" sibTransId="{779136C7-DA61-4EC6-9954-8357CD83F9C9}"/>
    <dgm:cxn modelId="{0B77AAE6-45DF-497B-88A6-0010A1854701}" type="presOf" srcId="{4220DD4E-D570-45AB-A35A-4D6B9AC1002A}" destId="{02935428-4F2C-48E9-A199-4601C186DF2E}" srcOrd="0" destOrd="0" presId="urn:microsoft.com/office/officeart/2005/8/layout/default"/>
    <dgm:cxn modelId="{66B6E8F2-DBBC-469B-A47B-4E948872E763}" type="presOf" srcId="{64746113-0912-4200-B158-3D31E18E8D99}" destId="{BC72004B-1CFB-4943-B987-218163EE9AAA}" srcOrd="0" destOrd="0" presId="urn:microsoft.com/office/officeart/2005/8/layout/default"/>
    <dgm:cxn modelId="{E67CCAF6-0E4E-456E-8DA4-E161DAD9DBB9}" type="presOf" srcId="{B1A2C107-15FB-404D-98A2-3FED6F99DC5A}" destId="{CC9B597F-1591-4691-8EB4-F95B09A71693}" srcOrd="0" destOrd="0" presId="urn:microsoft.com/office/officeart/2005/8/layout/default"/>
    <dgm:cxn modelId="{308139F8-BAEF-4EFB-BEA2-B29F91463002}" type="presOf" srcId="{403FB01C-7C2D-46D0-9FC2-6604F2489EC5}" destId="{52078E57-8363-4A6E-9239-4951C36549FD}" srcOrd="0" destOrd="0" presId="urn:microsoft.com/office/officeart/2005/8/layout/default"/>
    <dgm:cxn modelId="{DF1D4579-88BB-4BFA-B5FE-7EBA8ACA8D8E}" type="presParOf" srcId="{53897D74-128C-49EC-B8E4-D303A2480256}" destId="{BC72004B-1CFB-4943-B987-218163EE9AAA}" srcOrd="0" destOrd="0" presId="urn:microsoft.com/office/officeart/2005/8/layout/default"/>
    <dgm:cxn modelId="{4AAEB81F-1AF1-4FF7-8D6E-9D22FC250D52}" type="presParOf" srcId="{53897D74-128C-49EC-B8E4-D303A2480256}" destId="{D717B036-6750-40CB-ACEA-CB7992ACBAF3}" srcOrd="1" destOrd="0" presId="urn:microsoft.com/office/officeart/2005/8/layout/default"/>
    <dgm:cxn modelId="{B94DD3DC-B1C2-4827-AEE7-C53EF1C367D9}" type="presParOf" srcId="{53897D74-128C-49EC-B8E4-D303A2480256}" destId="{DB9E31BD-278E-403B-9CEF-206BB2BE94F9}" srcOrd="2" destOrd="0" presId="urn:microsoft.com/office/officeart/2005/8/layout/default"/>
    <dgm:cxn modelId="{C0E9F9DE-0C34-4402-8984-B30B8A7E627B}" type="presParOf" srcId="{53897D74-128C-49EC-B8E4-D303A2480256}" destId="{B8DE8EE9-5D5D-47D9-9BEE-FC49C802ABC6}" srcOrd="3" destOrd="0" presId="urn:microsoft.com/office/officeart/2005/8/layout/default"/>
    <dgm:cxn modelId="{D32C2159-4453-427B-A698-2572B966798A}" type="presParOf" srcId="{53897D74-128C-49EC-B8E4-D303A2480256}" destId="{02935428-4F2C-48E9-A199-4601C186DF2E}" srcOrd="4" destOrd="0" presId="urn:microsoft.com/office/officeart/2005/8/layout/default"/>
    <dgm:cxn modelId="{C2FBDD9D-75CA-4332-AB4D-93D1FE7EEAB5}" type="presParOf" srcId="{53897D74-128C-49EC-B8E4-D303A2480256}" destId="{062C28AC-F1CE-4E9D-9E4D-129849AD5125}" srcOrd="5" destOrd="0" presId="urn:microsoft.com/office/officeart/2005/8/layout/default"/>
    <dgm:cxn modelId="{AD0AFBD7-EE98-4589-AC5B-BF4398A07ECE}" type="presParOf" srcId="{53897D74-128C-49EC-B8E4-D303A2480256}" destId="{BBAD108A-793B-452F-BA22-5E0A0E19355D}" srcOrd="6" destOrd="0" presId="urn:microsoft.com/office/officeart/2005/8/layout/default"/>
    <dgm:cxn modelId="{1ACD9A47-D42E-4D56-BBFA-FA4EC72EBE86}" type="presParOf" srcId="{53897D74-128C-49EC-B8E4-D303A2480256}" destId="{20E8B14D-4EE3-4058-A84A-4AC50D7CA1A5}" srcOrd="7" destOrd="0" presId="urn:microsoft.com/office/officeart/2005/8/layout/default"/>
    <dgm:cxn modelId="{AB6743E8-21DE-4F64-BF82-6D8909F09627}" type="presParOf" srcId="{53897D74-128C-49EC-B8E4-D303A2480256}" destId="{52078E57-8363-4A6E-9239-4951C36549FD}" srcOrd="8" destOrd="0" presId="urn:microsoft.com/office/officeart/2005/8/layout/default"/>
    <dgm:cxn modelId="{A0BF03EC-3880-420D-9885-C9C2B082F8F6}" type="presParOf" srcId="{53897D74-128C-49EC-B8E4-D303A2480256}" destId="{822E557B-4139-4D1B-9276-C66E5D6084D2}" srcOrd="9" destOrd="0" presId="urn:microsoft.com/office/officeart/2005/8/layout/default"/>
    <dgm:cxn modelId="{F8628F9E-E77F-46F0-9624-C0AF12176980}" type="presParOf" srcId="{53897D74-128C-49EC-B8E4-D303A2480256}" destId="{64068119-BF7D-4930-AE4C-2723089803BA}" srcOrd="10" destOrd="0" presId="urn:microsoft.com/office/officeart/2005/8/layout/default"/>
    <dgm:cxn modelId="{37997652-13AE-4A54-BC04-941292D10ADA}" type="presParOf" srcId="{53897D74-128C-49EC-B8E4-D303A2480256}" destId="{4A6CCD32-2909-42FD-95DC-A8814C284A48}" srcOrd="11" destOrd="0" presId="urn:microsoft.com/office/officeart/2005/8/layout/default"/>
    <dgm:cxn modelId="{18344698-F47A-4575-8F1E-BF27D00132CE}" type="presParOf" srcId="{53897D74-128C-49EC-B8E4-D303A2480256}" destId="{EE461843-69FA-45E1-A8DC-3B7510EA3552}" srcOrd="12" destOrd="0" presId="urn:microsoft.com/office/officeart/2005/8/layout/default"/>
    <dgm:cxn modelId="{6D844815-1427-4491-82CF-982DAEBB047A}" type="presParOf" srcId="{53897D74-128C-49EC-B8E4-D303A2480256}" destId="{8A3D3F39-A97E-41E5-9FFA-EBE984789EBE}" srcOrd="13" destOrd="0" presId="urn:microsoft.com/office/officeart/2005/8/layout/default"/>
    <dgm:cxn modelId="{BFFD555C-2500-48F2-8F65-0BEC657B9E8B}" type="presParOf" srcId="{53897D74-128C-49EC-B8E4-D303A2480256}" destId="{CC9B597F-1591-4691-8EB4-F95B09A71693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2004B-1CFB-4943-B987-218163EE9AAA}">
      <dsp:nvSpPr>
        <dsp:cNvPr id="0" name=""/>
        <dsp:cNvSpPr/>
      </dsp:nvSpPr>
      <dsp:spPr>
        <a:xfrm>
          <a:off x="202290" y="3070"/>
          <a:ext cx="2121236" cy="12727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rial"/>
            </a:rPr>
            <a:t>1)Start </a:t>
          </a:r>
          <a:r>
            <a:rPr lang="en-US" sz="1700" kern="1200">
              <a:latin typeface="Arial"/>
            </a:rPr>
            <a:t>– Initialize CSV file. </a:t>
          </a:r>
        </a:p>
      </dsp:txBody>
      <dsp:txXfrm>
        <a:off x="202290" y="3070"/>
        <a:ext cx="2121236" cy="1272741"/>
      </dsp:txXfrm>
    </dsp:sp>
    <dsp:sp modelId="{DB9E31BD-278E-403B-9CEF-206BB2BE94F9}">
      <dsp:nvSpPr>
        <dsp:cNvPr id="0" name=""/>
        <dsp:cNvSpPr/>
      </dsp:nvSpPr>
      <dsp:spPr>
        <a:xfrm>
          <a:off x="2535649" y="3070"/>
          <a:ext cx="2121236" cy="12727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rial"/>
            </a:rPr>
            <a:t>2) Menu</a:t>
          </a:r>
          <a:r>
            <a:rPr lang="en-US" sz="1700" kern="1200">
              <a:latin typeface="Arial"/>
            </a:rPr>
            <a:t> – Add, View, Reports, Delete, Exit. </a:t>
          </a:r>
        </a:p>
      </dsp:txBody>
      <dsp:txXfrm>
        <a:off x="2535649" y="3070"/>
        <a:ext cx="2121236" cy="1272741"/>
      </dsp:txXfrm>
    </dsp:sp>
    <dsp:sp modelId="{02935428-4F2C-48E9-A199-4601C186DF2E}">
      <dsp:nvSpPr>
        <dsp:cNvPr id="0" name=""/>
        <dsp:cNvSpPr/>
      </dsp:nvSpPr>
      <dsp:spPr>
        <a:xfrm>
          <a:off x="4869009" y="3070"/>
          <a:ext cx="2121236" cy="12727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rial"/>
            </a:rPr>
            <a:t>3) Add Expense</a:t>
          </a:r>
          <a:r>
            <a:rPr lang="en-US" sz="1700" kern="1200">
              <a:latin typeface="Arial"/>
            </a:rPr>
            <a:t> –  Enter details →   Save to CSV. </a:t>
          </a:r>
        </a:p>
      </dsp:txBody>
      <dsp:txXfrm>
        <a:off x="4869009" y="3070"/>
        <a:ext cx="2121236" cy="1272741"/>
      </dsp:txXfrm>
    </dsp:sp>
    <dsp:sp modelId="{BBAD108A-793B-452F-BA22-5E0A0E19355D}">
      <dsp:nvSpPr>
        <dsp:cNvPr id="0" name=""/>
        <dsp:cNvSpPr/>
      </dsp:nvSpPr>
      <dsp:spPr>
        <a:xfrm>
          <a:off x="202290" y="1487936"/>
          <a:ext cx="2121236" cy="12727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rial"/>
            </a:rPr>
            <a:t>4) View Expenses</a:t>
          </a:r>
          <a:r>
            <a:rPr lang="en-US" sz="1700" kern="1200">
              <a:latin typeface="Arial"/>
            </a:rPr>
            <a:t> – Read and display CSV using Pandas. </a:t>
          </a:r>
        </a:p>
      </dsp:txBody>
      <dsp:txXfrm>
        <a:off x="202290" y="1487936"/>
        <a:ext cx="2121236" cy="1272741"/>
      </dsp:txXfrm>
    </dsp:sp>
    <dsp:sp modelId="{52078E57-8363-4A6E-9239-4951C36549FD}">
      <dsp:nvSpPr>
        <dsp:cNvPr id="0" name=""/>
        <dsp:cNvSpPr/>
      </dsp:nvSpPr>
      <dsp:spPr>
        <a:xfrm>
          <a:off x="2535649" y="1487936"/>
          <a:ext cx="2121236" cy="12727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rial"/>
            </a:rPr>
            <a:t>5) Monthly Report</a:t>
          </a:r>
          <a:r>
            <a:rPr lang="en-US" sz="1700" kern="1200">
              <a:latin typeface="Arial"/>
            </a:rPr>
            <a:t> – Filter data → Calculate total →Generate charts. </a:t>
          </a:r>
        </a:p>
      </dsp:txBody>
      <dsp:txXfrm>
        <a:off x="2535649" y="1487936"/>
        <a:ext cx="2121236" cy="1272741"/>
      </dsp:txXfrm>
    </dsp:sp>
    <dsp:sp modelId="{64068119-BF7D-4930-AE4C-2723089803BA}">
      <dsp:nvSpPr>
        <dsp:cNvPr id="0" name=""/>
        <dsp:cNvSpPr/>
      </dsp:nvSpPr>
      <dsp:spPr>
        <a:xfrm>
          <a:off x="4869009" y="1487936"/>
          <a:ext cx="2121236" cy="12727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Arial"/>
            </a:rPr>
            <a:t>6) Category Report </a:t>
          </a:r>
          <a:r>
            <a:rPr lang="en-US" sz="1700" kern="1200" dirty="0">
              <a:latin typeface="Arial"/>
            </a:rPr>
            <a:t>– Group by category → Calculate spending → Generate chart. </a:t>
          </a:r>
        </a:p>
      </dsp:txBody>
      <dsp:txXfrm>
        <a:off x="4869009" y="1487936"/>
        <a:ext cx="2121236" cy="1272741"/>
      </dsp:txXfrm>
    </dsp:sp>
    <dsp:sp modelId="{EE461843-69FA-45E1-A8DC-3B7510EA3552}">
      <dsp:nvSpPr>
        <dsp:cNvPr id="0" name=""/>
        <dsp:cNvSpPr/>
      </dsp:nvSpPr>
      <dsp:spPr>
        <a:xfrm>
          <a:off x="1368969" y="2972801"/>
          <a:ext cx="2121236" cy="12727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rial"/>
            </a:rPr>
            <a:t>7) Delete Expense </a:t>
          </a:r>
          <a:r>
            <a:rPr lang="en-US" sz="1700" kern="1200">
              <a:latin typeface="Arial"/>
            </a:rPr>
            <a:t>– Select index → Delete → Update CSV. </a:t>
          </a:r>
        </a:p>
      </dsp:txBody>
      <dsp:txXfrm>
        <a:off x="1368969" y="2972801"/>
        <a:ext cx="2121236" cy="1272741"/>
      </dsp:txXfrm>
    </dsp:sp>
    <dsp:sp modelId="{CC9B597F-1591-4691-8EB4-F95B09A71693}">
      <dsp:nvSpPr>
        <dsp:cNvPr id="0" name=""/>
        <dsp:cNvSpPr/>
      </dsp:nvSpPr>
      <dsp:spPr>
        <a:xfrm>
          <a:off x="3702329" y="2972801"/>
          <a:ext cx="2121236" cy="12727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rial"/>
            </a:rPr>
            <a:t>8) Exit</a:t>
          </a:r>
          <a:r>
            <a:rPr lang="en-US" sz="1700" kern="1200">
              <a:latin typeface="Arial"/>
            </a:rPr>
            <a:t> – Terminate program.</a:t>
          </a:r>
        </a:p>
      </dsp:txBody>
      <dsp:txXfrm>
        <a:off x="3702329" y="2972801"/>
        <a:ext cx="2121236" cy="12727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50" name="Google Shape;50;p1:notes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S. B. Jain Institute of Technology Management and research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9a5c084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9a5c084c8_0_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3f9a5c084c8_0_0:notes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>
              <a:lnSpc>
                <a:spcPct val="116875"/>
              </a:lnSpc>
              <a:spcBef>
                <a:spcPts val="0"/>
              </a:spcBef>
              <a:buNone/>
              <a:defRPr sz="1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 extrusionOk="0">
                <a:moveTo>
                  <a:pt x="8832850" y="0"/>
                </a:moveTo>
                <a:lnTo>
                  <a:pt x="0" y="0"/>
                </a:lnTo>
                <a:lnTo>
                  <a:pt x="0" y="309880"/>
                </a:lnTo>
                <a:lnTo>
                  <a:pt x="8832850" y="309880"/>
                </a:lnTo>
                <a:close/>
              </a:path>
            </a:pathLst>
          </a:custGeom>
          <a:solidFill>
            <a:srgbClr val="8BACA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4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 extrusionOk="0">
                <a:moveTo>
                  <a:pt x="4415790" y="6546850"/>
                </a:moveTo>
                <a:lnTo>
                  <a:pt x="0" y="6546850"/>
                </a:lnTo>
                <a:lnTo>
                  <a:pt x="0" y="0"/>
                </a:lnTo>
                <a:lnTo>
                  <a:pt x="8832850" y="0"/>
                </a:lnTo>
                <a:lnTo>
                  <a:pt x="8832850" y="6546850"/>
                </a:lnTo>
                <a:lnTo>
                  <a:pt x="4415790" y="6546850"/>
                </a:lnTo>
                <a:close/>
              </a:path>
            </a:pathLst>
          </a:custGeom>
          <a:noFill/>
          <a:ln w="9525" cap="flat" cmpd="sng">
            <a:solidFill>
              <a:srgbClr val="7A979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4"/>
          <p:cNvSpPr txBox="1">
            <a:spLocks noGrp="1"/>
          </p:cNvSpPr>
          <p:nvPr>
            <p:ph type="title"/>
          </p:nvPr>
        </p:nvSpPr>
        <p:spPr>
          <a:xfrm>
            <a:off x="670559" y="346709"/>
            <a:ext cx="7802880" cy="39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body" idx="1"/>
          </p:nvPr>
        </p:nvSpPr>
        <p:spPr>
          <a:xfrm>
            <a:off x="762000" y="1828800"/>
            <a:ext cx="7471409" cy="3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ftr" idx="11"/>
          </p:nvPr>
        </p:nvSpPr>
        <p:spPr>
          <a:xfrm>
            <a:off x="382270" y="6458416"/>
            <a:ext cx="3950970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459469" y="6430208"/>
            <a:ext cx="302259" cy="252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38100" marR="0" lvl="1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38100" marR="0" lvl="2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38100" marR="0" lvl="3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8100" marR="0" lvl="4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8100" marR="0" lvl="5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8100" marR="0" lvl="6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8100" marR="0" lvl="7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100" marR="0" lvl="8" indent="0" algn="l" rtl="0">
              <a:lnSpc>
                <a:spcPct val="116875"/>
              </a:lnSpc>
              <a:spcBef>
                <a:spcPts val="0"/>
              </a:spcBef>
              <a:buNone/>
              <a:defRPr sz="16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304800" y="304800"/>
            <a:ext cx="8305800" cy="33983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algn="ctr"/>
            <a:r>
              <a:rPr lang="en-US"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Experiential Learning</a:t>
            </a:r>
            <a:br>
              <a:rPr lang="en-US" sz="3200" b="1">
                <a:latin typeface="Times New Roman"/>
                <a:ea typeface="Times New Roman"/>
                <a:cs typeface="Times New Roman"/>
              </a:rPr>
            </a:br>
            <a:r>
              <a:rPr lang="en-US"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Assessment-I</a:t>
            </a:r>
            <a:br>
              <a:rPr lang="en-US" sz="3200" b="1">
                <a:latin typeface="Times New Roman"/>
                <a:ea typeface="Times New Roman"/>
                <a:cs typeface="Times New Roman"/>
              </a:rPr>
            </a:br>
            <a:r>
              <a:rPr lang="en-US"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br>
              <a:rPr lang="en-US" sz="3200" b="1">
                <a:latin typeface="Times New Roman"/>
                <a:ea typeface="Times New Roman"/>
                <a:cs typeface="Times New Roman"/>
              </a:rPr>
            </a:br>
            <a:r>
              <a:rPr lang="en-US" sz="3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3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Personal expense tracker </a:t>
            </a:r>
            <a:r>
              <a:rPr lang="en-US" sz="32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”</a:t>
            </a:r>
            <a:br>
              <a:rPr lang="en-US" sz="3200" b="1">
                <a:latin typeface="Times New Roman"/>
                <a:ea typeface="Times New Roman"/>
                <a:cs typeface="Times New Roman"/>
              </a:rPr>
            </a:br>
            <a:r>
              <a:rPr lang="en-US" sz="28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course</a:t>
            </a:r>
            <a:br>
              <a:rPr lang="en-US" sz="3200" b="1">
                <a:latin typeface="Times New Roman"/>
                <a:ea typeface="Times New Roman"/>
                <a:cs typeface="Times New Roman"/>
              </a:rPr>
            </a:br>
            <a:r>
              <a:rPr lang="en-US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Programming Language (N-PCCCM304P)</a:t>
            </a:r>
            <a:br>
              <a:rPr lang="en-US" sz="3200" b="1">
                <a:latin typeface="Times New Roman"/>
                <a:ea typeface="Times New Roman"/>
                <a:cs typeface="Times New Roman"/>
              </a:rPr>
            </a:br>
            <a:endParaRPr sz="32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440522" y="3285881"/>
            <a:ext cx="2929612" cy="1544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/>
          </a:p>
          <a:p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Vanshika .V. </a:t>
            </a:r>
            <a:r>
              <a:rPr lang="en-US" sz="2000" b="1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</a:rPr>
              <a:t>Kharwade</a:t>
            </a:r>
          </a:p>
          <a:p>
            <a:endParaRPr lang="en-US"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</a:t>
            </a:r>
            <a:endParaRPr sz="18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/>
          <p:nvPr/>
        </p:nvSpPr>
        <p:spPr>
          <a:xfrm>
            <a:off x="5305425" y="3277000"/>
            <a:ext cx="3409950" cy="122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Mayuri Getme</a:t>
            </a:r>
            <a:endParaRPr sz="20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447800" y="4648200"/>
            <a:ext cx="662904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Session:2026-27 (ODD )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CSE(AI&amp;ML)</a:t>
            </a:r>
            <a:endParaRPr sz="18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457200" y="53340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B. JAIN INSTITUTE OF TECHNOLOGY MANAGEMENT AND RESEARCH,NAGPUR</a:t>
            </a:r>
            <a:endParaRPr/>
          </a:p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Autonomous Institute, Affiliated to RTMNU, Nagpur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7" name="Google Shape;57;p1" descr="C:\Users\PROJECT LAB\Desktop\College 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8575" y="3286617"/>
            <a:ext cx="1466850" cy="106680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>
            <a:spLocks noGrp="1"/>
          </p:cNvSpPr>
          <p:nvPr>
            <p:ph type="ftr" idx="11"/>
          </p:nvPr>
        </p:nvSpPr>
        <p:spPr>
          <a:xfrm>
            <a:off x="3352800" y="6477000"/>
            <a:ext cx="563753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/>
              <a:t>)</a:t>
            </a:r>
            <a:endParaRPr sz="1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Alternate Process 1">
            <a:extLst>
              <a:ext uri="{FF2B5EF4-FFF2-40B4-BE49-F238E27FC236}">
                <a16:creationId xmlns:a16="http://schemas.microsoft.com/office/drawing/2014/main" id="{0CC33D8E-5C7D-95BC-7EE2-49729D71949D}"/>
              </a:ext>
            </a:extLst>
          </p:cNvPr>
          <p:cNvSpPr/>
          <p:nvPr/>
        </p:nvSpPr>
        <p:spPr>
          <a:xfrm>
            <a:off x="526894" y="1276816"/>
            <a:ext cx="8098573" cy="3311911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lvl="0" algn="l" rtl="0"/>
            <a:r>
              <a:rPr lang="en-US" sz="1600" b="1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 Statement</a:t>
            </a:r>
            <a:r>
              <a:rPr lang="en-US" sz="16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endParaRPr lang="en-US" sz="1600" dirty="0">
              <a:solidFill>
                <a:srgbClr val="000000"/>
              </a:solidFill>
              <a:cs typeface="Arial"/>
            </a:endParaRPr>
          </a:p>
          <a:p>
            <a:endParaRPr lang="en-US" sz="1600" dirty="0">
              <a:solidFill>
                <a:srgbClr val="000000"/>
              </a:solidFill>
              <a:cs typeface="Arial"/>
            </a:endParaRPr>
          </a:p>
          <a:p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Develop a Python-based application that allows users to track their daily expenses, categorize them, and generate monthly reports in a visual format using libraries like Matplotlib or </a:t>
            </a:r>
            <a:r>
              <a:rPr lang="en-US" sz="1600" dirty="0" err="1">
                <a:solidFill>
                  <a:srgbClr val="000000"/>
                </a:solidFill>
                <a:ea typeface="+mn-lt"/>
                <a:cs typeface="+mn-lt"/>
              </a:rPr>
              <a:t>Scaborn</a:t>
            </a:r>
            <a:r>
              <a:rPr lang="en-US" sz="160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 dirty="0"/>
          </a:p>
          <a:p>
            <a:endParaRPr lang="en-US">
              <a:solidFill>
                <a:srgbClr val="000000"/>
              </a:solidFill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59107F-A4AE-57CC-78EA-5E7DE7C34547}"/>
              </a:ext>
            </a:extLst>
          </p:cNvPr>
          <p:cNvSpPr txBox="1"/>
          <p:nvPr/>
        </p:nvSpPr>
        <p:spPr>
          <a:xfrm>
            <a:off x="-103149" y="6384073"/>
            <a:ext cx="6676792" cy="569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700" i="1">
                <a:solidFill>
                  <a:schemeClr val="bg1"/>
                </a:solidFill>
              </a:rPr>
              <a:t>S. B. Jain Institute of Technology Management and research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892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9a5c084c8_0_0"/>
          <p:cNvSpPr txBox="1">
            <a:spLocks noGrp="1"/>
          </p:cNvSpPr>
          <p:nvPr>
            <p:ph type="body" idx="1"/>
          </p:nvPr>
        </p:nvSpPr>
        <p:spPr>
          <a:xfrm>
            <a:off x="522755" y="796552"/>
            <a:ext cx="7683373" cy="1477328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Objectives</a:t>
            </a:r>
          </a:p>
          <a:p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sz="2000" b="1"/>
          </a:p>
          <a:p>
            <a:endParaRPr lang="en-US" sz="2000"/>
          </a:p>
        </p:txBody>
      </p:sp>
      <p:sp>
        <p:nvSpPr>
          <p:cNvPr id="608" name="Rectangle: Rounded Corners 607">
            <a:extLst>
              <a:ext uri="{FF2B5EF4-FFF2-40B4-BE49-F238E27FC236}">
                <a16:creationId xmlns:a16="http://schemas.microsoft.com/office/drawing/2014/main" id="{24FF2D8F-3AA4-EC11-04C4-DDFB42D1C6AB}"/>
              </a:ext>
            </a:extLst>
          </p:cNvPr>
          <p:cNvSpPr/>
          <p:nvPr/>
        </p:nvSpPr>
        <p:spPr>
          <a:xfrm>
            <a:off x="822402" y="1265664"/>
            <a:ext cx="6880302" cy="44883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Develop a Python-based expense tracking application.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</p:txBody>
      </p:sp>
      <p:sp>
        <p:nvSpPr>
          <p:cNvPr id="609" name="Rectangle: Rounded Corners 608">
            <a:extLst>
              <a:ext uri="{FF2B5EF4-FFF2-40B4-BE49-F238E27FC236}">
                <a16:creationId xmlns:a16="http://schemas.microsoft.com/office/drawing/2014/main" id="{412BECD5-EEDD-FBBB-C97D-394E529D0C09}"/>
              </a:ext>
            </a:extLst>
          </p:cNvPr>
          <p:cNvSpPr/>
          <p:nvPr/>
        </p:nvSpPr>
        <p:spPr>
          <a:xfrm>
            <a:off x="822401" y="1892919"/>
            <a:ext cx="6899817" cy="39586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Record and categorize daily expenses.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</p:txBody>
      </p:sp>
      <p:sp>
        <p:nvSpPr>
          <p:cNvPr id="610" name="Rectangle: Rounded Corners 609">
            <a:extLst>
              <a:ext uri="{FF2B5EF4-FFF2-40B4-BE49-F238E27FC236}">
                <a16:creationId xmlns:a16="http://schemas.microsoft.com/office/drawing/2014/main" id="{2AD87C7F-2F14-557B-7D45-8734328368EE}"/>
              </a:ext>
            </a:extLst>
          </p:cNvPr>
          <p:cNvSpPr/>
          <p:nvPr/>
        </p:nvSpPr>
        <p:spPr>
          <a:xfrm>
            <a:off x="822402" y="2481146"/>
            <a:ext cx="6885878" cy="33453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Store and manage data using CSV files.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</p:txBody>
      </p:sp>
      <p:sp>
        <p:nvSpPr>
          <p:cNvPr id="611" name="Rectangle: Rounded Corners 610">
            <a:extLst>
              <a:ext uri="{FF2B5EF4-FFF2-40B4-BE49-F238E27FC236}">
                <a16:creationId xmlns:a16="http://schemas.microsoft.com/office/drawing/2014/main" id="{C1A5EF0A-754E-344B-FEA9-3A421CE970E2}"/>
              </a:ext>
            </a:extLst>
          </p:cNvPr>
          <p:cNvSpPr/>
          <p:nvPr/>
        </p:nvSpPr>
        <p:spPr>
          <a:xfrm>
            <a:off x="808464" y="3066585"/>
            <a:ext cx="6897027" cy="3512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View and calculate monthly expenses.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</p:txBody>
      </p:sp>
      <p:sp>
        <p:nvSpPr>
          <p:cNvPr id="612" name="Rectangle: Rounded Corners 611">
            <a:extLst>
              <a:ext uri="{FF2B5EF4-FFF2-40B4-BE49-F238E27FC236}">
                <a16:creationId xmlns:a16="http://schemas.microsoft.com/office/drawing/2014/main" id="{39E16D95-E072-9C14-9D10-E30F282A9400}"/>
              </a:ext>
            </a:extLst>
          </p:cNvPr>
          <p:cNvSpPr/>
          <p:nvPr/>
        </p:nvSpPr>
        <p:spPr>
          <a:xfrm>
            <a:off x="805675" y="3665963"/>
            <a:ext cx="6888664" cy="34011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Generate category-wise expense reports.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</p:txBody>
      </p:sp>
      <p:sp>
        <p:nvSpPr>
          <p:cNvPr id="613" name="Rectangle: Rounded Corners 612">
            <a:extLst>
              <a:ext uri="{FF2B5EF4-FFF2-40B4-BE49-F238E27FC236}">
                <a16:creationId xmlns:a16="http://schemas.microsoft.com/office/drawing/2014/main" id="{5BF57BDA-C2C2-EB8E-F410-AD37A015C2B5}"/>
              </a:ext>
            </a:extLst>
          </p:cNvPr>
          <p:cNvSpPr/>
          <p:nvPr/>
        </p:nvSpPr>
        <p:spPr>
          <a:xfrm>
            <a:off x="808462" y="4243038"/>
            <a:ext cx="6871939" cy="3624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solidFill>
                  <a:schemeClr val="tx1">
                    <a:lumMod val="65000"/>
                    <a:lumOff val="35000"/>
                  </a:schemeClr>
                </a:solidFill>
              </a:rPr>
              <a:t>Visualize spending using Matplotlib charts.</a:t>
            </a:r>
            <a:endParaRPr lang="en-US" sz="160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</p:txBody>
      </p:sp>
      <p:sp>
        <p:nvSpPr>
          <p:cNvPr id="614" name="TextBox 613">
            <a:extLst>
              <a:ext uri="{FF2B5EF4-FFF2-40B4-BE49-F238E27FC236}">
                <a16:creationId xmlns:a16="http://schemas.microsoft.com/office/drawing/2014/main" id="{5975FF83-523B-0965-0523-E1CB56AD451A}"/>
              </a:ext>
            </a:extLst>
          </p:cNvPr>
          <p:cNvSpPr txBox="1"/>
          <p:nvPr/>
        </p:nvSpPr>
        <p:spPr>
          <a:xfrm>
            <a:off x="-220237" y="6395224"/>
            <a:ext cx="6885878" cy="569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700" i="1">
                <a:solidFill>
                  <a:schemeClr val="bg1"/>
                </a:solidFill>
              </a:rPr>
              <a:t>S. B. Jain Institute of Technology Management and research</a:t>
            </a:r>
          </a:p>
          <a:p>
            <a:pPr algn="l"/>
            <a:endParaRPr lang="en-US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1" name="Diagram 3270">
            <a:extLst>
              <a:ext uri="{FF2B5EF4-FFF2-40B4-BE49-F238E27FC236}">
                <a16:creationId xmlns:a16="http://schemas.microsoft.com/office/drawing/2014/main" id="{3B0F5F53-3E2C-14AB-2E2D-4A8594266F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8711027"/>
              </p:ext>
            </p:extLst>
          </p:nvPr>
        </p:nvGraphicFramePr>
        <p:xfrm>
          <a:off x="780585" y="1477536"/>
          <a:ext cx="7192536" cy="42486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439" name="TextBox 3438">
            <a:extLst>
              <a:ext uri="{FF2B5EF4-FFF2-40B4-BE49-F238E27FC236}">
                <a16:creationId xmlns:a16="http://schemas.microsoft.com/office/drawing/2014/main" id="{9480AD5E-0B3C-5424-3EC0-C1931A2FC6CC}"/>
              </a:ext>
            </a:extLst>
          </p:cNvPr>
          <p:cNvSpPr txBox="1"/>
          <p:nvPr/>
        </p:nvSpPr>
        <p:spPr>
          <a:xfrm>
            <a:off x="998034" y="917186"/>
            <a:ext cx="451624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600" b="1">
                <a:solidFill>
                  <a:schemeClr val="tx1">
                    <a:lumMod val="65000"/>
                    <a:lumOff val="35000"/>
                  </a:schemeClr>
                </a:solidFill>
              </a:rPr>
              <a:t>Algorithm</a:t>
            </a:r>
          </a:p>
        </p:txBody>
      </p:sp>
      <p:sp>
        <p:nvSpPr>
          <p:cNvPr id="4062" name="TextBox 4061">
            <a:extLst>
              <a:ext uri="{FF2B5EF4-FFF2-40B4-BE49-F238E27FC236}">
                <a16:creationId xmlns:a16="http://schemas.microsoft.com/office/drawing/2014/main" id="{097CEBB3-D284-C026-1DC3-BF750CDE4EE0}"/>
              </a:ext>
            </a:extLst>
          </p:cNvPr>
          <p:cNvSpPr txBox="1"/>
          <p:nvPr/>
        </p:nvSpPr>
        <p:spPr>
          <a:xfrm>
            <a:off x="-105937" y="6417526"/>
            <a:ext cx="6718609" cy="569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700" i="1">
                <a:solidFill>
                  <a:schemeClr val="bg1"/>
                </a:solidFill>
              </a:rPr>
              <a:t>S. B. Jain Institute of Technology Management and research</a:t>
            </a:r>
          </a:p>
          <a:p>
            <a:pPr algn="l"/>
            <a:endParaRPr lang="en-US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100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FB1EB9-4C90-EE90-4F58-CFD4E681EE7F}"/>
              </a:ext>
            </a:extLst>
          </p:cNvPr>
          <p:cNvSpPr txBox="1"/>
          <p:nvPr/>
        </p:nvSpPr>
        <p:spPr>
          <a:xfrm>
            <a:off x="557561" y="407779"/>
            <a:ext cx="8011137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Pseucode</a:t>
            </a:r>
            <a:endParaRPr lang="en-US" sz="1800" b="1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endParaRPr lang="en-US" sz="2000" b="1"/>
          </a:p>
          <a:p>
            <a:r>
              <a:rPr lang="en-US" sz="2000" dirty="0"/>
              <a:t>    </a:t>
            </a:r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6FE0DA13-6F1B-6EFC-5651-52904140E8F0}"/>
              </a:ext>
            </a:extLst>
          </p:cNvPr>
          <p:cNvSpPr/>
          <p:nvPr/>
        </p:nvSpPr>
        <p:spPr>
          <a:xfrm>
            <a:off x="557560" y="778304"/>
            <a:ext cx="2846096" cy="5494256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Initialize expenses.csv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 algn="just"/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DISPLAY Main Menu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 algn="just"/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WHILE user does not select Exit: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 algn="just"/>
            <a:r>
              <a:rPr lang="en-US" dirty="0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 DISPLAY: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 1. Add Expense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2. View Expenses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3. Monthly Report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        4. Category Report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5. Delete Expense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6. Exit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 algn="just"/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 INPUT choice</a:t>
            </a: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cs typeface="Arial"/>
              </a:rPr>
              <a:t>IF choice = 1:</a:t>
            </a: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cs typeface="Arial"/>
              </a:rPr>
              <a:t>        INPUT date</a:t>
            </a: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cs typeface="Arial"/>
              </a:rPr>
              <a:t>        INPUT category</a:t>
            </a: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cs typeface="Arial"/>
              </a:rPr>
              <a:t>        INPUT description</a:t>
            </a: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cs typeface="Arial"/>
              </a:rPr>
              <a:t>        INPUT amount</a:t>
            </a:r>
          </a:p>
          <a:p>
            <a:pPr algn="just"/>
            <a:r>
              <a:rPr lang="en-US">
                <a:solidFill>
                  <a:schemeClr val="accent5">
                    <a:lumMod val="49000"/>
                  </a:schemeClr>
                </a:solidFill>
                <a:cs typeface="Arial"/>
              </a:rPr>
              <a:t>        SAVE expense</a:t>
            </a:r>
          </a:p>
          <a:p>
            <a:pPr algn="ctr"/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1C802247-A623-DDD6-0CFE-A287E1809314}"/>
              </a:ext>
            </a:extLst>
          </p:cNvPr>
          <p:cNvSpPr/>
          <p:nvPr/>
        </p:nvSpPr>
        <p:spPr>
          <a:xfrm>
            <a:off x="3520745" y="778559"/>
            <a:ext cx="2647909" cy="5500082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r>
              <a:rPr lang="en-US" dirty="0">
                <a:ea typeface="+mn-lt"/>
                <a:cs typeface="+mn-lt"/>
              </a:rPr>
              <a:t>   </a:t>
            </a:r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 ELSE IF choice = 2: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READ expense data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DISPLAY expenses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 ELSE IF choice = 3: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INPUT month and year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FILTER monthly expenses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CALCULATE total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CALCULATE category-wise expenses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DISPLAY bar chart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DISPLAY pie chart</a:t>
            </a: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cs typeface="Arial"/>
              </a:rPr>
              <a:t>ELSE IF choice = 4:</a:t>
            </a:r>
          </a:p>
          <a:p>
            <a:r>
              <a:rPr lang="en-US" dirty="0">
                <a:solidFill>
                  <a:schemeClr val="accent5">
                    <a:lumMod val="49000"/>
                  </a:schemeClr>
                </a:solidFill>
                <a:cs typeface="Arial"/>
              </a:rPr>
              <a:t>        GROUP </a:t>
            </a:r>
            <a:r>
              <a:rPr lang="en-US">
                <a:solidFill>
                  <a:schemeClr val="accent5">
                    <a:lumMod val="49000"/>
                  </a:schemeClr>
                </a:solidFill>
                <a:cs typeface="Arial"/>
              </a:rPr>
              <a:t>expenses by</a:t>
            </a:r>
            <a:r>
              <a:rPr lang="en-US" dirty="0">
                <a:solidFill>
                  <a:schemeClr val="accent5">
                    <a:lumMod val="49000"/>
                  </a:schemeClr>
                </a:solidFill>
                <a:cs typeface="Arial"/>
              </a:rPr>
              <a:t> category</a:t>
            </a:r>
            <a:endParaRPr lang="en-US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 dirty="0">
                <a:solidFill>
                  <a:schemeClr val="accent5">
                    <a:lumMod val="49000"/>
                  </a:schemeClr>
                </a:solidFill>
                <a:cs typeface="Arial"/>
              </a:rPr>
              <a:t>        </a:t>
            </a:r>
            <a:r>
              <a:rPr lang="en-US">
                <a:solidFill>
                  <a:schemeClr val="accent5">
                    <a:lumMod val="49000"/>
                  </a:schemeClr>
                </a:solidFill>
                <a:cs typeface="Arial"/>
              </a:rPr>
              <a:t>CALCULATE category</a:t>
            </a:r>
            <a:r>
              <a:rPr lang="en-US" dirty="0">
                <a:solidFill>
                  <a:schemeClr val="accent5">
                    <a:lumMod val="49000"/>
                  </a:schemeClr>
                </a:solidFill>
                <a:cs typeface="Arial"/>
              </a:rPr>
              <a:t> totals</a:t>
            </a:r>
            <a:endParaRPr lang="en-US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 dirty="0">
                <a:solidFill>
                  <a:schemeClr val="accent5">
                    <a:lumMod val="49000"/>
                  </a:schemeClr>
                </a:solidFill>
                <a:cs typeface="Arial"/>
              </a:rPr>
              <a:t>        DISPLAY </a:t>
            </a:r>
            <a:r>
              <a:rPr lang="en-US">
                <a:solidFill>
                  <a:schemeClr val="accent5">
                    <a:lumMod val="49000"/>
                  </a:schemeClr>
                </a:solidFill>
                <a:cs typeface="Arial"/>
              </a:rPr>
              <a:t>category report</a:t>
            </a: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cs typeface="Arial"/>
              </a:rPr>
              <a:t>        DISPLAY bar chart</a:t>
            </a:r>
          </a:p>
          <a:p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E9CB6BB3-9F27-3FB5-A72E-3DD427D651BC}"/>
              </a:ext>
            </a:extLst>
          </p:cNvPr>
          <p:cNvSpPr/>
          <p:nvPr/>
        </p:nvSpPr>
        <p:spPr>
          <a:xfrm>
            <a:off x="6319701" y="774756"/>
            <a:ext cx="2503700" cy="5497804"/>
          </a:xfrm>
          <a:prstGeom prst="flowChartAlternateProcess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>
              <a:cs typeface="Arial"/>
            </a:endParaRPr>
          </a:p>
          <a:p>
            <a:r>
              <a:rPr lang="en-US" dirty="0">
                <a:ea typeface="+mn-lt"/>
                <a:cs typeface="+mn-lt"/>
              </a:rPr>
              <a:t>    </a:t>
            </a:r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ELSE IF choice = 5: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DISPLAY expenses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INPUT expense to delete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DELETE expense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SAVE updated data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 ELSE IF choice = 6: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EXIT program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 ELSE: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        DISPLAY "Invalid choice"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END WHILE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  <a:p>
            <a:r>
              <a:rPr lang="en-US">
                <a:solidFill>
                  <a:schemeClr val="accent5">
                    <a:lumMod val="49000"/>
                  </a:schemeClr>
                </a:solidFill>
                <a:ea typeface="+mn-lt"/>
                <a:cs typeface="+mn-lt"/>
              </a:rPr>
              <a:t>STOP</a:t>
            </a:r>
            <a:endParaRPr lang="en-US" dirty="0">
              <a:solidFill>
                <a:schemeClr val="accent5">
                  <a:lumMod val="49000"/>
                </a:schemeClr>
              </a:solidFill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6EE0AF-26AB-2862-4F32-EA96FB14E528}"/>
              </a:ext>
            </a:extLst>
          </p:cNvPr>
          <p:cNvSpPr txBox="1"/>
          <p:nvPr/>
        </p:nvSpPr>
        <p:spPr>
          <a:xfrm>
            <a:off x="216688" y="6388128"/>
            <a:ext cx="6384326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700" b="0" i="1" u="none" strike="noStrike" baseline="0">
                <a:solidFill>
                  <a:schemeClr val="bg1"/>
                </a:solidFill>
                <a:latin typeface="Arial"/>
              </a:rPr>
              <a:t>S. B. Jain Institute of Technology Management and research</a:t>
            </a:r>
            <a:r>
              <a:rPr lang="en-US" sz="1700" b="0" i="1">
                <a:solidFill>
                  <a:schemeClr val="bg1"/>
                </a:solidFill>
                <a:latin typeface="Arial"/>
                <a:ea typeface="Arial"/>
                <a:cs typeface="Arial"/>
              </a:rPr>
              <a:t>​</a:t>
            </a:r>
            <a:endParaRPr lang="en-US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8472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679785-0BE5-74A0-DD72-90547175D22E}"/>
              </a:ext>
            </a:extLst>
          </p:cNvPr>
          <p:cNvSpPr txBox="1"/>
          <p:nvPr/>
        </p:nvSpPr>
        <p:spPr>
          <a:xfrm>
            <a:off x="487865" y="501805"/>
            <a:ext cx="8014939" cy="54780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57AF818-DA3A-8014-0ED9-A1006F256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00" y="696191"/>
            <a:ext cx="7471409" cy="5539978"/>
          </a:xfrm>
        </p:spPr>
        <p:txBody>
          <a:bodyPr/>
          <a:lstStyle/>
          <a:p>
            <a:r>
              <a:rPr lang="en-US" sz="2000" b="1"/>
              <a:t>Understanding of Python Logic</a:t>
            </a:r>
          </a:p>
          <a:p>
            <a:pPr marL="571500" indent="-342900">
              <a:buFont typeface="Wingdings"/>
              <a:buChar char="Ø"/>
            </a:pPr>
            <a:r>
              <a:rPr lang="en-US" sz="2000" dirty="0"/>
              <a:t>Functions:</a:t>
            </a:r>
            <a:br>
              <a:rPr lang="en-US" sz="2000" dirty="0"/>
            </a:br>
            <a:r>
              <a:rPr lang="en-US" sz="2000" dirty="0"/>
              <a:t> Organize tasks into separate functions like </a:t>
            </a:r>
            <a:r>
              <a:rPr lang="en-US" sz="2000" dirty="0" err="1"/>
              <a:t>add_expense</a:t>
            </a:r>
            <a:r>
              <a:rPr lang="en-US" sz="2000" dirty="0"/>
              <a:t>(), </a:t>
            </a:r>
            <a:r>
              <a:rPr lang="en-US" sz="2000" dirty="0" err="1"/>
              <a:t>view_expenses</a:t>
            </a:r>
            <a:r>
              <a:rPr lang="en-US" sz="2000" dirty="0"/>
              <a:t>(), and </a:t>
            </a:r>
            <a:r>
              <a:rPr lang="en-US" sz="2000" dirty="0" err="1"/>
              <a:t>monthly_report</a:t>
            </a:r>
            <a:r>
              <a:rPr lang="en-US" sz="2000" dirty="0"/>
              <a:t>().</a:t>
            </a:r>
          </a:p>
          <a:p>
            <a:pPr marL="571500" indent="-342900">
              <a:buFont typeface="Wingdings"/>
              <a:buChar char="Ø"/>
            </a:pPr>
            <a:r>
              <a:rPr lang="en-US" sz="2000" dirty="0"/>
              <a:t>Conditional Statements:</a:t>
            </a:r>
            <a:br>
              <a:rPr lang="en-US" sz="2000" dirty="0"/>
            </a:br>
            <a:r>
              <a:rPr lang="en-US" sz="2000" dirty="0"/>
              <a:t> if-</a:t>
            </a:r>
            <a:r>
              <a:rPr lang="en-US" sz="2000" dirty="0" err="1"/>
              <a:t>elif</a:t>
            </a:r>
            <a:r>
              <a:rPr lang="en-US" sz="2000" dirty="0"/>
              <a:t>-else handles different menu choices.</a:t>
            </a:r>
          </a:p>
          <a:p>
            <a:pPr marL="571500" indent="-342900">
              <a:buFont typeface="Wingdings"/>
              <a:buChar char="Ø"/>
            </a:pPr>
            <a:r>
              <a:rPr lang="en-US" sz="2000"/>
              <a:t> Loops:</a:t>
            </a:r>
            <a:br>
              <a:rPr lang="en-US" sz="2000" dirty="0"/>
            </a:br>
            <a:r>
              <a:rPr lang="en-US" sz="2000"/>
              <a:t> while keeps the main menu running until Exit.</a:t>
            </a:r>
          </a:p>
          <a:p>
            <a:pPr marL="571500" indent="-342900">
              <a:buFont typeface="Wingdings"/>
              <a:buChar char="Ø"/>
            </a:pPr>
            <a:r>
              <a:rPr lang="en-US" sz="2000"/>
              <a:t>File Handling:</a:t>
            </a:r>
            <a:br>
              <a:rPr lang="en-US" sz="2000" dirty="0"/>
            </a:br>
            <a:r>
              <a:rPr lang="en-US" sz="2000"/>
              <a:t> CSV files store expense records permanently.</a:t>
            </a:r>
          </a:p>
          <a:p>
            <a:pPr marL="571500" indent="-342900">
              <a:buFont typeface="Wingdings"/>
              <a:buChar char="Ø"/>
            </a:pPr>
            <a:r>
              <a:rPr lang="en-US" sz="2000"/>
              <a:t> Pandas:</a:t>
            </a:r>
            <a:br>
              <a:rPr lang="en-US" sz="2000" dirty="0"/>
            </a:br>
            <a:r>
              <a:rPr lang="en-US" sz="2000"/>
              <a:t> Reads, filters, groups, and calculates expense data.</a:t>
            </a:r>
          </a:p>
          <a:p>
            <a:pPr marL="571500" indent="-342900">
              <a:buFont typeface="Wingdings"/>
              <a:buChar char="Ø"/>
            </a:pPr>
            <a:r>
              <a:rPr lang="en-US" sz="2000"/>
              <a:t> Matplotlib:</a:t>
            </a:r>
            <a:br>
              <a:rPr lang="en-US" sz="2000" dirty="0"/>
            </a:br>
            <a:r>
              <a:rPr lang="en-US" sz="2000"/>
              <a:t> Creates Bar Charts and Pie Charts for visual reports.</a:t>
            </a:r>
          </a:p>
          <a:p>
            <a:pPr marL="571500" indent="-342900">
              <a:buFont typeface="Wingdings"/>
              <a:buChar char="Ø"/>
            </a:pPr>
            <a:r>
              <a:rPr lang="en-US" sz="2000"/>
              <a:t>Exception Handling:</a:t>
            </a:r>
            <a:br>
              <a:rPr lang="en-US" sz="2000" dirty="0"/>
            </a:br>
            <a:r>
              <a:rPr lang="en-US" sz="2000"/>
              <a:t> try-except handles invalid inputs such as incorrect amounts or dates.</a:t>
            </a:r>
          </a:p>
          <a:p>
            <a:pPr marL="571500" indent="-342900">
              <a:buFont typeface="Wingdings"/>
              <a:buChar char="Ø"/>
            </a:pPr>
            <a:endParaRPr lang="en-US" sz="20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FC9824-BF34-832C-384E-E2EB06636232}"/>
              </a:ext>
            </a:extLst>
          </p:cNvPr>
          <p:cNvSpPr txBox="1"/>
          <p:nvPr/>
        </p:nvSpPr>
        <p:spPr>
          <a:xfrm>
            <a:off x="-5069" y="6387874"/>
            <a:ext cx="6523463" cy="569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700" i="1">
                <a:solidFill>
                  <a:schemeClr val="bg1"/>
                </a:solidFill>
              </a:rPr>
              <a:t>S. B. Jain Institute of Technology Management and research</a:t>
            </a:r>
          </a:p>
          <a:p>
            <a:pPr algn="l"/>
            <a:endParaRPr lang="en-US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595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CA238C-F4E9-76D8-F849-B7A1BF3D2391}"/>
              </a:ext>
            </a:extLst>
          </p:cNvPr>
          <p:cNvSpPr txBox="1"/>
          <p:nvPr/>
        </p:nvSpPr>
        <p:spPr>
          <a:xfrm>
            <a:off x="599378" y="473927"/>
            <a:ext cx="797312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tx1">
                    <a:lumMod val="65000"/>
                    <a:lumOff val="35000"/>
                  </a:schemeClr>
                </a:solidFill>
              </a:rPr>
              <a:t>GitHub &amp; Project Management</a:t>
            </a:r>
          </a:p>
          <a:p>
            <a:pPr algn="just"/>
            <a:endParaRPr lang="en-US" sz="20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BB4BE10-D9E5-E0C9-3C7F-FB7AF14AFDB5}"/>
              </a:ext>
            </a:extLst>
          </p:cNvPr>
          <p:cNvSpPr/>
          <p:nvPr/>
        </p:nvSpPr>
        <p:spPr>
          <a:xfrm>
            <a:off x="585438" y="823671"/>
            <a:ext cx="7965771" cy="5443061"/>
          </a:xfrm>
          <a:prstGeom prst="round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800">
                <a:solidFill>
                  <a:srgbClr val="000000"/>
                </a:solidFill>
                <a:cs typeface="Arial"/>
              </a:rPr>
              <a:t>GitHub Account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algn="just"/>
            <a:r>
              <a:rPr lang="en-US" sz="1800">
                <a:solidFill>
                  <a:srgbClr val="000000"/>
                </a:solidFill>
                <a:cs typeface="Arial"/>
              </a:rPr>
              <a:t>Created a GitHub account to manage and share the project online.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algn="just"/>
            <a:r>
              <a:rPr lang="en-US" sz="1800">
                <a:solidFill>
                  <a:srgbClr val="000000"/>
                </a:solidFill>
                <a:cs typeface="Arial"/>
              </a:rPr>
              <a:t>🔹 Repository Creation :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algn="just"/>
            <a:r>
              <a:rPr lang="en-US" sz="1800">
                <a:solidFill>
                  <a:srgbClr val="000000"/>
                </a:solidFill>
                <a:cs typeface="Arial"/>
              </a:rPr>
              <a:t>Created a dedicated repository named Personal-Expense-Tracker.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algn="just"/>
            <a:r>
              <a:rPr lang="en-US" sz="1800">
                <a:solidFill>
                  <a:srgbClr val="000000"/>
                </a:solidFill>
                <a:cs typeface="Arial"/>
              </a:rPr>
              <a:t>🔹 Code Upload :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algn="just"/>
            <a:r>
              <a:rPr lang="en-US" sz="1800">
                <a:solidFill>
                  <a:srgbClr val="000000"/>
                </a:solidFill>
                <a:cs typeface="Arial"/>
              </a:rPr>
              <a:t>Uploaded the Python source code and project files to the repository.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algn="just"/>
            <a:r>
              <a:rPr lang="en-US" sz="1800">
                <a:solidFill>
                  <a:srgbClr val="000000"/>
                </a:solidFill>
                <a:cs typeface="Arial"/>
              </a:rPr>
              <a:t>🔹 Meaningful Commits :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algn="just"/>
            <a:r>
              <a:rPr lang="en-US" sz="1800">
                <a:solidFill>
                  <a:srgbClr val="000000"/>
                </a:solidFill>
                <a:cs typeface="Arial"/>
              </a:rPr>
              <a:t>Used clear commits such as: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n-US" sz="1800">
                <a:solidFill>
                  <a:srgbClr val="000000"/>
                </a:solidFill>
                <a:latin typeface="Arial"/>
                <a:cs typeface="Arial"/>
              </a:rPr>
              <a:t>Add expense functionality</a:t>
            </a:r>
            <a:r>
              <a:rPr lang="en-US" sz="1800" dirty="0">
                <a:solidFill>
                  <a:srgbClr val="000000"/>
                </a:solidFill>
                <a:cs typeface="Arial"/>
              </a:rPr>
              <a:t> 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US" sz="1800">
                <a:solidFill>
                  <a:srgbClr val="000000"/>
                </a:solidFill>
                <a:latin typeface="Arial"/>
                <a:cs typeface="Arial"/>
              </a:rPr>
              <a:t>Add monthly report</a:t>
            </a:r>
            <a:r>
              <a:rPr lang="en-US" sz="1800" dirty="0">
                <a:solidFill>
                  <a:srgbClr val="000000"/>
                </a:solidFill>
                <a:cs typeface="Arial"/>
              </a:rPr>
              <a:t> 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US" sz="1800">
                <a:solidFill>
                  <a:srgbClr val="000000"/>
                </a:solidFill>
                <a:latin typeface="Arial"/>
                <a:cs typeface="Arial"/>
              </a:rPr>
              <a:t>Add Matplotlib visualization</a:t>
            </a:r>
            <a:r>
              <a:rPr lang="en-US" sz="1800" dirty="0">
                <a:solidFill>
                  <a:srgbClr val="000000"/>
                </a:solidFill>
                <a:cs typeface="Arial"/>
              </a:rPr>
              <a:t> </a:t>
            </a:r>
          </a:p>
          <a:p>
            <a:pPr algn="just"/>
            <a:r>
              <a:rPr lang="en-US" sz="1800">
                <a:solidFill>
                  <a:srgbClr val="000000"/>
                </a:solidFill>
                <a:cs typeface="Arial"/>
              </a:rPr>
              <a:t>🔹 Collaboration :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algn="just"/>
            <a:r>
              <a:rPr lang="en-US" sz="1800" dirty="0">
                <a:solidFill>
                  <a:srgbClr val="000000"/>
                </a:solidFill>
                <a:cs typeface="Arial"/>
              </a:rPr>
              <a:t>GitHub enables code sharing, version control, and </a:t>
            </a:r>
            <a:r>
              <a:rPr lang="en-US" sz="1800" dirty="0" err="1">
                <a:solidFill>
                  <a:srgbClr val="000000"/>
                </a:solidFill>
                <a:cs typeface="Arial"/>
              </a:rPr>
              <a:t>collaborationthrough</a:t>
            </a:r>
            <a:r>
              <a:rPr lang="en-US" sz="1800" dirty="0">
                <a:solidFill>
                  <a:srgbClr val="000000"/>
                </a:solidFill>
                <a:cs typeface="Arial"/>
              </a:rPr>
              <a:t> branches and pull requests.</a:t>
            </a:r>
          </a:p>
          <a:p>
            <a:pPr algn="just"/>
            <a:r>
              <a:rPr lang="en-US" sz="1800">
                <a:solidFill>
                  <a:srgbClr val="000000"/>
                </a:solidFill>
                <a:cs typeface="Arial"/>
              </a:rPr>
              <a:t>🔹 Individual Contribution :</a:t>
            </a:r>
            <a:endParaRPr lang="en-US" sz="1800" dirty="0">
              <a:solidFill>
                <a:srgbClr val="000000"/>
              </a:solidFill>
              <a:cs typeface="Arial"/>
            </a:endParaRPr>
          </a:p>
          <a:p>
            <a:pPr algn="just"/>
            <a:r>
              <a:rPr lang="en-US" sz="1800" dirty="0">
                <a:solidFill>
                  <a:srgbClr val="000000"/>
                </a:solidFill>
                <a:cs typeface="Arial"/>
              </a:rPr>
              <a:t>Developed the expense tracking logic, CSV data handling, </a:t>
            </a:r>
            <a:r>
              <a:rPr lang="en-US" sz="1800" dirty="0" err="1">
                <a:solidFill>
                  <a:srgbClr val="000000"/>
                </a:solidFill>
                <a:cs typeface="Arial"/>
              </a:rPr>
              <a:t>monthlyreports</a:t>
            </a:r>
            <a:r>
              <a:rPr lang="en-US" sz="1800" dirty="0">
                <a:solidFill>
                  <a:srgbClr val="000000"/>
                </a:solidFill>
                <a:cs typeface="Arial"/>
              </a:rPr>
              <a:t>, Matplotlib charts, and managed the GitHub repository.</a:t>
            </a:r>
          </a:p>
          <a:p>
            <a:pPr algn="ctr"/>
            <a:endParaRPr lang="en-US" dirty="0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42C6E-6060-BC88-6E94-09476BB6B9EB}"/>
              </a:ext>
            </a:extLst>
          </p:cNvPr>
          <p:cNvSpPr txBox="1"/>
          <p:nvPr/>
        </p:nvSpPr>
        <p:spPr>
          <a:xfrm>
            <a:off x="-163974" y="6408910"/>
            <a:ext cx="6837978" cy="5693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700">
                <a:solidFill>
                  <a:schemeClr val="tx1"/>
                </a:solidFill>
              </a:rPr>
              <a:t>S. B. Jain Institute of Technology Management and research</a:t>
            </a:r>
            <a:endParaRPr lang="en-US" sz="170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74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5" name="Freeform: Shape 84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87" name="Freeform: Shape 86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143002" y="1999615"/>
            <a:ext cx="6858000" cy="276402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8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                       </a:t>
            </a:r>
            <a:r>
              <a:rPr lang="en-US" sz="5800" b="1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Thank You</a:t>
            </a:r>
            <a:endParaRPr lang="en-US" sz="5800" kern="1200">
              <a:solidFill>
                <a:schemeClr val="tx1"/>
              </a:solidFill>
              <a:latin typeface="+mj-lt"/>
              <a:ea typeface="+mj-ea"/>
              <a:cs typeface="+mj-cs"/>
              <a:sym typeface="Calibri"/>
            </a:endParaRPr>
          </a:p>
          <a:p>
            <a:pPr marL="0" marR="0" lv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8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Arial"/>
              </a:rPr>
              <a:t> </a:t>
            </a:r>
            <a:endParaRPr lang="en-US" sz="5800" kern="1200">
              <a:solidFill>
                <a:schemeClr val="tx1"/>
              </a:solidFill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1475184" y="5645150"/>
            <a:ext cx="6193632" cy="631825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R="0"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</a:pPr>
            <a:r>
              <a:rPr lang="en-US" sz="1700" i="1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Cambria"/>
              </a:rPr>
              <a:t>S. B. Jain Institute of Technology Management and research</a:t>
            </a:r>
            <a:endParaRPr lang="en-US" sz="1700" i="1" kern="1200">
              <a:solidFill>
                <a:schemeClr val="tx1"/>
              </a:solidFill>
              <a:latin typeface="+mn-lt"/>
              <a:ea typeface="+mn-ea"/>
            </a:endParaRP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8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Experiential Learning Project Assessment-I on “ Personal expense tracker ” under the course Python Programming Language (N-PCCCM304P)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MRS. MAYURI GETME</dc:creator>
  <cp:revision>419</cp:revision>
  <dcterms:created xsi:type="dcterms:W3CDTF">2021-03-08T15:20:31Z</dcterms:created>
  <dcterms:modified xsi:type="dcterms:W3CDTF">2026-08-17T06:45:27Z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2017-11-07T00:00:00Z</vt:filetime>
  </property>
  <property fmtid="{D5CDD505-2E9C-101B-9397-08002B2CF9AE}" pid="3" name="Creator">
    <vt:lpwstr>Impress</vt:lpwstr>
  </property>
  <property fmtid="{D5CDD505-2E9C-101B-9397-08002B2CF9AE}" pid="4" name="LastSaved">
    <vt:filetime>2021-03-08T00:00:00Z</vt:filetime>
  </property>
</Properties>
</file>